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01_背景（アイボリー）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4E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02_誌名（栞）"/>
          <p:cNvSpPr txBox="1"/>
          <p:nvPr/>
        </p:nvSpPr>
        <p:spPr>
          <a:xfrm>
            <a:off x="533400" y="419100"/>
            <a:ext cx="1905000" cy="1428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600" b="1">
                <a:solidFill>
                  <a:srgbClr val="38251F"/>
                </a:solidFill>
                <a:latin typeface="Shippori Mincho"/>
                <a:ea typeface="Shippori Mincho"/>
                <a:cs typeface="Shippori Mincho"/>
              </a:rPr>
              <a:t>栞</a:t>
            </a:r>
          </a:p>
        </p:txBody>
      </p:sp>
      <p:sp>
        <p:nvSpPr>
          <p:cNvPr id="4" name="03_誌名サブ"/>
          <p:cNvSpPr txBox="1"/>
          <p:nvPr/>
        </p:nvSpPr>
        <p:spPr>
          <a:xfrm>
            <a:off x="2247900" y="704850"/>
            <a:ext cx="476250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50" b="0" spc="450">
                <a:solidFill>
                  <a:srgbClr val="38251F"/>
                </a:solidFill>
                <a:latin typeface="Shippori Mincho"/>
                <a:ea typeface="Shippori Mincho"/>
                <a:cs typeface="Shippori Mincho"/>
              </a:rPr>
              <a:t>関西の喫茶店記録</a:t>
            </a:r>
          </a:p>
        </p:txBody>
      </p:sp>
      <p:sp>
        <p:nvSpPr>
          <p:cNvPr id="5" name="04_欧文（号表記）"/>
          <p:cNvSpPr txBox="1"/>
          <p:nvPr/>
        </p:nvSpPr>
        <p:spPr>
          <a:xfrm>
            <a:off x="2247900" y="1123950"/>
            <a:ext cx="4762500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50" b="0" spc="450">
                <a:solidFill>
                  <a:srgbClr val="B77B43"/>
                </a:solidFill>
                <a:latin typeface="Cormorant Garamond"/>
                <a:ea typeface="Cormorant Garamond"/>
                <a:cs typeface="Cormorant Garamond"/>
              </a:rPr>
              <a:t>KISSATEN NOTES</a:t>
            </a:r>
          </a:p>
        </p:txBody>
      </p:sp>
      <p:sp>
        <p:nvSpPr>
          <p:cNvPr id="6" name="05_号数"/>
          <p:cNvSpPr txBox="1"/>
          <p:nvPr/>
        </p:nvSpPr>
        <p:spPr>
          <a:xfrm>
            <a:off x="6667500" y="1123950"/>
            <a:ext cx="3086100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650" b="0" spc="450">
                <a:solidFill>
                  <a:srgbClr val="B77B43"/>
                </a:solidFill>
                <a:latin typeface="Cormorant Garamond"/>
                <a:ea typeface="Cormorant Garamond"/>
                <a:cs typeface="Cormorant Garamond"/>
              </a:rPr>
              <a:t>2026 AUTUMN</a:t>
            </a:r>
          </a:p>
        </p:txBody>
      </p:sp>
      <p:cxnSp>
        <p:nvCxnSpPr>
          <p:cNvPr id="7" name="06_装飾線（誌名下）"/>
          <p:cNvCxnSpPr/>
          <p:nvPr/>
        </p:nvCxnSpPr>
        <p:spPr>
          <a:xfrm>
            <a:off x="533400" y="1866900"/>
            <a:ext cx="9220200" cy="0"/>
          </a:xfrm>
          <a:prstGeom prst="line">
            <a:avLst/>
          </a:prstGeom>
          <a:ln w="19050">
            <a:solidFill>
              <a:srgbClr val="382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07_写真" descr="photo_magaz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114550"/>
            <a:ext cx="9220200" cy="7810500"/>
          </a:xfrm>
          <a:prstGeom prst="rect">
            <a:avLst/>
          </a:prstGeom>
        </p:spPr>
      </p:pic>
      <p:sp>
        <p:nvSpPr>
          <p:cNvPr id="9" name="08_半透明オーバーレイ（写真の締め）"/>
          <p:cNvSpPr/>
          <p:nvPr/>
        </p:nvSpPr>
        <p:spPr>
          <a:xfrm>
            <a:off x="533400" y="2114550"/>
            <a:ext cx="9220200" cy="7810500"/>
          </a:xfrm>
          <a:prstGeom prst="rect">
            <a:avLst/>
          </a:prstGeom>
          <a:solidFill>
            <a:srgbClr val="38251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09_メインタイトル（1行目）"/>
          <p:cNvSpPr txBox="1"/>
          <p:nvPr/>
        </p:nvSpPr>
        <p:spPr>
          <a:xfrm>
            <a:off x="533400" y="10229850"/>
            <a:ext cx="6667500" cy="1047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300" b="1" spc="150">
                <a:solidFill>
                  <a:srgbClr val="38251F"/>
                </a:solidFill>
                <a:latin typeface="Shippori Mincho"/>
                <a:ea typeface="Shippori Mincho"/>
                <a:cs typeface="Shippori Mincho"/>
              </a:rPr>
              <a:t>喫茶店で、</a:t>
            </a:r>
          </a:p>
        </p:txBody>
      </p:sp>
      <p:sp>
        <p:nvSpPr>
          <p:cNvPr id="11" name="10_メインタイトル（2行目）"/>
          <p:cNvSpPr txBox="1"/>
          <p:nvPr/>
        </p:nvSpPr>
        <p:spPr>
          <a:xfrm>
            <a:off x="1447800" y="11220450"/>
            <a:ext cx="7239000" cy="1047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300" b="1" spc="150">
                <a:solidFill>
                  <a:srgbClr val="38251F"/>
                </a:solidFill>
                <a:latin typeface="Shippori Mincho"/>
                <a:ea typeface="Shippori Mincho"/>
                <a:cs typeface="Shippori Mincho"/>
              </a:rPr>
              <a:t>絵を描く午後。</a:t>
            </a:r>
          </a:p>
        </p:txBody>
      </p:sp>
      <p:cxnSp>
        <p:nvCxnSpPr>
          <p:cNvPr id="12" name="11_装飾線（特集）"/>
          <p:cNvCxnSpPr/>
          <p:nvPr/>
        </p:nvCxnSpPr>
        <p:spPr>
          <a:xfrm>
            <a:off x="7810500" y="10591800"/>
            <a:ext cx="1943100" cy="0"/>
          </a:xfrm>
          <a:prstGeom prst="line">
            <a:avLst/>
          </a:prstGeom>
          <a:ln w="19050">
            <a:solidFill>
              <a:srgbClr val="B77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12_サブタイトル"/>
          <p:cNvSpPr txBox="1"/>
          <p:nvPr/>
        </p:nvSpPr>
        <p:spPr>
          <a:xfrm>
            <a:off x="6324600" y="10725150"/>
            <a:ext cx="3429000" cy="76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50000"/>
              </a:lnSpc>
            </a:pPr>
            <a:r>
              <a:rPr sz="1650" b="0" spc="225">
                <a:solidFill>
                  <a:srgbClr val="38251F"/>
                </a:solidFill>
                <a:latin typeface="Shippori Mincho"/>
                <a:ea typeface="Shippori Mincho"/>
                <a:cs typeface="Shippori Mincho"/>
              </a:rPr>
              <a:t>いちじくのフルーツサンド
珈琲と、スケッチ帳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